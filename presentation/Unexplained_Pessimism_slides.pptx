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11 s  ·  23 words  ·  0 clicks</a:t>
            </a:r>
          </a:p>
          <a:p/>
          <a:p>
            <a:r>
              <a:t>Hi, I’m Jonas. Americans feel much worse about the economy than the numbers suggest. Is the news to blame? Our answer: mostly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27 s  ·  54 words  ·  3 clicks</a:t>
            </a:r>
          </a:p>
          <a:p/>
          <a:p>
            <a:r>
              <a:t>First, the gap. We predict the Michigan index from unemployment, inflation and GDP growth, using only data known at the time. [CLICK] Blue is the prediction. [CLICK] Black is what people say. [CLICK] The gap is about 36 points in 2025 and 40 in 2026. The economy explains only about a tenth of the drop since 2019.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20 s  ·  41 words  ·  1 clicks</a:t>
            </a:r>
          </a:p>
          <a:p/>
          <a:p>
            <a:r>
              <a:t>Three explanations are possible: real pressures the headline numbers miss, like high prices; the media; or a problem with the survey or the model. [CLICK] We fixed all our tests in advance, including eight results that would count against the media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23 s  ·  45 words  ·  3 clicks</a:t>
            </a:r>
          </a:p>
          <a:p/>
          <a:p>
            <a:r>
              <a:t>Start with measurement. The gap is similar in every income, age, region and education group. [CLICK] The survey moved online in 2024, but the gap kept growing after that. [CLICK] Party mix moves it by less than 3 points. [CLICK] And it was this large before the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29 s  ·  59 words  ·  2 clicks</a:t>
            </a:r>
          </a:p>
          <a:p/>
          <a:p>
            <a:r>
              <a:t>Now the media. We collected about 167,000 news items, posts and comments. An LLM coded over 11,000, and two people labeled 360 by hand to check it. [CLICK] On tone, the LLM agrees with humans almost as well as they agree with each other, and about twice as well as word lists. [CLICK] Swapping political names showed no sign of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22 s  ·  45 words  ·  2 clicks</a:t>
            </a:r>
          </a:p>
          <a:p/>
          <a:p>
            <a:r>
              <a:t>Coverage treats good and bad news alike, and only 2 of 68 checkable numbers were wrong. [CLICK] What changed is blame: under Trump’s second term, 40 percent of items blame the White House. [CLICK] But tariffs are his own decisions, so blame is not proof of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25 s  ·  49 words  ·  3 clicks</a:t>
            </a:r>
          </a:p>
          <a:p/>
          <a:p>
            <a:r>
              <a:t>The key test: does news tone help forecast sentiment? Each dot is one version of the test. [CLICK] Added to the economy model, tone helps a little. [CLICK] But with household costs and politics included, none of 20 versions is significant. [CLICK] At most, tone explains about 5 percent of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22 s  ·  42 words  ·  3 clicks</a:t>
            </a:r>
          </a:p>
          <a:p/>
          <a:p>
            <a:r>
              <a:t>Back to our three explanations. [CLICK] Measurement is ruled out. [CLICK] The media story is weak: two of our eight tests go against it. [CLICK] Real pressures stay open: high prices may matter, but our data cannot size them. Next, an experiment could test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 ·  60 words  ·  3 clicks</a:t>
            </a:r>
          </a:p>
          <a:p/>
          <a:p>
            <a:r>
              <a:t>What does this mean for finance? [CLICK] In 2026 the index averages about 51; the economy points to 91. [CLICK] That is below any reading before 2020, so old models would see a deep downturn. [CLICK] So treat the gap as lasting, not noise. Track it with its error band, next to prices and rates. News tone will not fix it.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8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80560"/>
            <a:ext cx="12191695" cy="2377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258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EB6834"/>
                </a:solidFill>
                <a:latin typeface="Helvetica Neue"/>
              </a:rPr>
              <a:t>AI APPLICATIONS IN FINANCE  · 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Helvetica Neue"/>
              </a:rPr>
              <a:t>Unexplained Pessimism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C9CDD3"/>
                </a:solidFill>
                <a:latin typeface="Helvetica Neue"/>
              </a:rPr>
              <a:t>Economic fundamentals, media narratives and U.S. consumer sentiment before the 2026 midterms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A1AB"/>
                </a:solidFill>
                <a:latin typeface="Helvetica Neue"/>
              </a:rPr>
              <a:t>Jonas Wu   ·   Data through October 16,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THE PUZZLE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Sentiment is ~40 points below the economy’s prediction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2</a:t>
            </a:r>
          </a:p>
        </p:txBody>
      </p:sp>
      <p:pic>
        <p:nvPicPr>
          <p:cNvPr id="5" name="Picture 4" descr="g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7955279" cy="4526280"/>
          </a:xfrm>
          <a:prstGeom prst="rect">
            <a:avLst/>
          </a:prstGeom>
        </p:spPr>
      </p:pic>
      <p:pic>
        <p:nvPicPr>
          <p:cNvPr id="6" name="layer model" descr="gap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54480"/>
            <a:ext cx="7955279" cy="4526280"/>
          </a:xfrm>
          <a:prstGeom prst="rect">
            <a:avLst/>
          </a:prstGeom>
        </p:spPr>
      </p:pic>
      <p:pic>
        <p:nvPicPr>
          <p:cNvPr id="7" name="layer actual" descr="gap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554480"/>
            <a:ext cx="7955279" cy="4526280"/>
          </a:xfrm>
          <a:prstGeom prst="rect">
            <a:avLst/>
          </a:prstGeom>
        </p:spPr>
      </p:pic>
      <p:pic>
        <p:nvPicPr>
          <p:cNvPr id="8" name="layer gap" descr="gap_g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554480"/>
            <a:ext cx="7955279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32520" y="17830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B6834"/>
                </a:solidFill>
                <a:latin typeface="Helvetica Neue"/>
              </a:rPr>
              <a:t>−35.8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points, 2025 average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1546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B6834"/>
                </a:solidFill>
                <a:latin typeface="Helvetica Neue"/>
              </a:rPr>
              <a:t>−39.8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points, 2026 average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5262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F2328"/>
                </a:solidFill>
                <a:latin typeface="Helvetica Neue"/>
              </a:rPr>
              <a:t>7–11%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of the fall since 2019 that the economy explains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Model: real-time unemployment, PCE inflation and GDP growth (ALFRED vintages), fit 2010–19. Band: 95% prediction interval. Pandemic months not modelled.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5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7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THREE EXPLANATIONS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Three ways to explain the gap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3</a:t>
            </a:r>
          </a:p>
        </p:txBody>
      </p:sp>
      <p:sp>
        <p:nvSpPr>
          <p:cNvPr id="5" name="!!H1"/>
          <p:cNvSpPr/>
          <p:nvPr/>
        </p:nvSpPr>
        <p:spPr>
          <a:xfrm>
            <a:off x="594360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H1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Real pressures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High prices and rates the headline numbers miss</a:t>
            </a:r>
          </a:p>
        </p:txBody>
      </p:sp>
      <p:sp>
        <p:nvSpPr>
          <p:cNvPr id="6" name="!!H2"/>
          <p:cNvSpPr/>
          <p:nvPr/>
        </p:nvSpPr>
        <p:spPr>
          <a:xfrm>
            <a:off x="4370832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H2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Media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Selection, framing or bias in coverage</a:t>
            </a:r>
          </a:p>
        </p:txBody>
      </p:sp>
      <p:sp>
        <p:nvSpPr>
          <p:cNvPr id="7" name="!!H3"/>
          <p:cNvSpPr/>
          <p:nvPr/>
        </p:nvSpPr>
        <p:spPr>
          <a:xfrm>
            <a:off x="8147304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H3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Measurement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Survey method, timing or the model</a:t>
            </a:r>
          </a:p>
        </p:txBody>
      </p:sp>
      <p:sp>
        <p:nvSpPr>
          <p:cNvPr id="8" name="verdict q0"/>
          <p:cNvSpPr txBox="1"/>
          <p:nvPr/>
        </p:nvSpPr>
        <p:spPr>
          <a:xfrm>
            <a:off x="594360" y="3703320"/>
            <a:ext cx="35021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C7CBD1"/>
                </a:solidFill>
                <a:latin typeface="Helvetica Neue"/>
              </a:rPr>
              <a:t>?</a:t>
            </a:r>
          </a:p>
        </p:txBody>
      </p:sp>
      <p:sp>
        <p:nvSpPr>
          <p:cNvPr id="9" name="verdict q1"/>
          <p:cNvSpPr txBox="1"/>
          <p:nvPr/>
        </p:nvSpPr>
        <p:spPr>
          <a:xfrm>
            <a:off x="4370832" y="3703320"/>
            <a:ext cx="35021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C7CBD1"/>
                </a:solidFill>
                <a:latin typeface="Helvetica Neue"/>
              </a:rPr>
              <a:t>?</a:t>
            </a:r>
          </a:p>
        </p:txBody>
      </p:sp>
      <p:sp>
        <p:nvSpPr>
          <p:cNvPr id="10" name="verdict q2"/>
          <p:cNvSpPr txBox="1"/>
          <p:nvPr/>
        </p:nvSpPr>
        <p:spPr>
          <a:xfrm>
            <a:off x="8147304" y="3703320"/>
            <a:ext cx="35021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C7CBD1"/>
                </a:solidFill>
                <a:latin typeface="Helvetica Neue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48640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B6834"/>
                </a:solidFill>
                <a:latin typeface="Helvetica Neue"/>
              </a:rPr>
              <a:t>●  </a:t>
            </a:r>
            <a:r>
              <a:rPr sz="1700" b="0" i="0">
                <a:solidFill>
                  <a:srgbClr val="1F2328"/>
                </a:solidFill>
                <a:latin typeface="Helvetica Neue"/>
              </a:rPr>
              <a:t>All tests fixed before estimation</a:t>
            </a:r>
            <a:r>
              <a:rPr sz="1200" b="0" i="0">
                <a:solidFill>
                  <a:srgbClr val="EB6834"/>
                </a:solidFill>
                <a:latin typeface="Helvetica Neue"/>
              </a:rPr>
              <a:t>        ●  </a:t>
            </a:r>
            <a:r>
              <a:rPr sz="1700" b="0" i="0">
                <a:solidFill>
                  <a:srgbClr val="1F2328"/>
                </a:solidFill>
                <a:latin typeface="Helvetica Neue"/>
              </a:rPr>
              <a:t>150 specifications registered</a:t>
            </a:r>
            <a:r>
              <a:rPr sz="1200" b="0" i="0">
                <a:solidFill>
                  <a:srgbClr val="EB6834"/>
                </a:solidFill>
                <a:latin typeface="Helvetica Neue"/>
              </a:rPr>
              <a:t>        ●  </a:t>
            </a:r>
            <a:r>
              <a:rPr sz="1700" b="0" i="0">
                <a:solidFill>
                  <a:srgbClr val="1F2328"/>
                </a:solidFill>
                <a:latin typeface="Helvetica Neue"/>
              </a:rPr>
              <a:t>8 pre-set tests against the media story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6" grpId="0" animBg="1"/>
      <p:bldP spid="9" grpId="0" animBg="1"/>
      <p:bldP spid="7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H3  ·  MEASUREMENT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Not the survey, not party mix, not the campaign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4</a:t>
            </a:r>
          </a:p>
        </p:txBody>
      </p:sp>
      <p:sp>
        <p:nvSpPr>
          <p:cNvPr id="5" name="!!H1"/>
          <p:cNvSpPr/>
          <p:nvPr/>
        </p:nvSpPr>
        <p:spPr>
          <a:xfrm>
            <a:off x="1010412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H1</a:t>
            </a:r>
          </a:p>
        </p:txBody>
      </p:sp>
      <p:sp>
        <p:nvSpPr>
          <p:cNvPr id="6" name="!!H2"/>
          <p:cNvSpPr/>
          <p:nvPr/>
        </p:nvSpPr>
        <p:spPr>
          <a:xfrm>
            <a:off x="1065276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H2</a:t>
            </a:r>
          </a:p>
        </p:txBody>
      </p:sp>
      <p:sp>
        <p:nvSpPr>
          <p:cNvPr id="7" name="!!H3"/>
          <p:cNvSpPr/>
          <p:nvPr/>
        </p:nvSpPr>
        <p:spPr>
          <a:xfrm>
            <a:off x="1120140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H3</a:t>
            </a:r>
          </a:p>
        </p:txBody>
      </p:sp>
      <p:pic>
        <p:nvPicPr>
          <p:cNvPr id="8" name="Picture 7" descr="groups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630936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920" y="1691640"/>
            <a:ext cx="429768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F2328"/>
                </a:solidFill>
                <a:latin typeface="Helvetica Neue"/>
              </a:rPr>
              <a:t>−23 → −39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Gap kept widening after the survey moved online (late 2024 →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3108960"/>
            <a:ext cx="429768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F2328"/>
                </a:solidFill>
                <a:latin typeface="Helvetica Neue"/>
              </a:rPr>
              <a:t>≤ 2.7 pts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Largest plausible effect of the party mix of respondents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4526280"/>
            <a:ext cx="429768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F2328"/>
                </a:solidFill>
                <a:latin typeface="Helvetica Neue"/>
              </a:rPr>
              <a:t>−38.8 → −40.4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Gap in Jan–Apr vs. May–Oct 2026: already there before the campaign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764792"/>
            <a:ext cx="54864" cy="96012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3182112"/>
            <a:ext cx="54864" cy="96012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4599432"/>
            <a:ext cx="54864" cy="96012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Group gaps: each group’s own economic model, fit 2010–19; mean 2025-01 to 2026-08. Party-mix bound: Republican share 2–6 points lower.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3" grpId="0" animBg="1"/>
      <p:bldP spid="10" grpId="0" animBg="1"/>
      <p:bldP spid="14" grpId="0" animBg="1"/>
      <p:bldP spid="1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H2  ·  MEASURING THE MEDIA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An AI coder that nearly matches human agreement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5</a:t>
            </a:r>
          </a:p>
        </p:txBody>
      </p:sp>
      <p:sp>
        <p:nvSpPr>
          <p:cNvPr id="5" name="!!H1"/>
          <p:cNvSpPr/>
          <p:nvPr/>
        </p:nvSpPr>
        <p:spPr>
          <a:xfrm>
            <a:off x="1010412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H1</a:t>
            </a:r>
          </a:p>
        </p:txBody>
      </p:sp>
      <p:sp>
        <p:nvSpPr>
          <p:cNvPr id="6" name="!!H2"/>
          <p:cNvSpPr/>
          <p:nvPr/>
        </p:nvSpPr>
        <p:spPr>
          <a:xfrm>
            <a:off x="1065276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H2</a:t>
            </a:r>
          </a:p>
        </p:txBody>
      </p:sp>
      <p:sp>
        <p:nvSpPr>
          <p:cNvPr id="7" name="!!H3"/>
          <p:cNvSpPr/>
          <p:nvPr/>
        </p:nvSpPr>
        <p:spPr>
          <a:xfrm>
            <a:off x="1120140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0020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56032" tIns="155448" rIns="182880" bIns="91440"/>
          <a:lstStyle/>
          <a:p>
            <a:pPr algn="l"/>
            <a:r>
              <a:rPr sz="3000" b="1">
                <a:solidFill>
                  <a:srgbClr val="1F2328"/>
                </a:solidFill>
                <a:latin typeface="Helvetica Neue"/>
              </a:rPr>
              <a:t>167,418</a:t>
            </a:r>
          </a:p>
          <a:p>
            <a:pPr algn="l"/>
            <a:r>
              <a:rPr sz="1350" b="0">
                <a:solidFill>
                  <a:srgbClr val="6B7280"/>
                </a:solidFill>
                <a:latin typeface="Helvetica Neue"/>
              </a:rPr>
              <a:t>news items, posts and comments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1600200"/>
            <a:ext cx="54864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C7CBD1"/>
                </a:solidFill>
                <a:latin typeface="Helvetica Neue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56032" tIns="155448" rIns="182880" bIns="91440"/>
          <a:lstStyle/>
          <a:p>
            <a:pPr algn="l"/>
            <a:r>
              <a:rPr sz="3000" b="1">
                <a:solidFill>
                  <a:srgbClr val="1F2328"/>
                </a:solidFill>
                <a:latin typeface="Helvetica Neue"/>
              </a:rPr>
              <a:t>11,431</a:t>
            </a:r>
          </a:p>
          <a:p>
            <a:pPr algn="l"/>
            <a:r>
              <a:rPr sz="1350" b="0">
                <a:solidFill>
                  <a:srgbClr val="6B7280"/>
                </a:solidFill>
                <a:latin typeface="Helvetica Neue"/>
              </a:rPr>
              <a:t>coded by an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600200"/>
            <a:ext cx="54864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C7CBD1"/>
                </a:solidFill>
                <a:latin typeface="Helvetica Neu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60020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56032" tIns="155448" rIns="182880" bIns="91440"/>
          <a:lstStyle/>
          <a:p>
            <a:pPr algn="l"/>
            <a:r>
              <a:rPr sz="3000" b="1">
                <a:solidFill>
                  <a:srgbClr val="1F2328"/>
                </a:solidFill>
                <a:latin typeface="Helvetica Neue"/>
              </a:rPr>
              <a:t>360</a:t>
            </a:r>
          </a:p>
          <a:p>
            <a:pPr algn="l"/>
            <a:r>
              <a:rPr sz="1350" b="0">
                <a:solidFill>
                  <a:srgbClr val="6B7280"/>
                </a:solidFill>
                <a:latin typeface="Helvetica Neue"/>
              </a:rPr>
              <a:t>labeled by two people, independently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B7280"/>
                </a:solidFill>
                <a:latin typeface="Helvetica Neue"/>
              </a:rPr>
              <a:t>Agreement with the human labels on tone (Cohen’s κ, test set)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Human vs. human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3502151"/>
            <a:ext cx="4760605" cy="310896"/>
          </a:xfrm>
          <a:prstGeom prst="rect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9253" y="34747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0.79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05072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4032504"/>
            <a:ext cx="4413129" cy="310896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1777" y="400507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B6834"/>
                </a:solidFill>
                <a:latin typeface="Helvetica Neue"/>
              </a:rPr>
              <a:t>0.73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35424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TF-IDF classifier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4562856"/>
            <a:ext cx="2378996" cy="310896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7644" y="45354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0.39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065775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Finance dictionary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5093207"/>
            <a:ext cx="2115262" cy="310896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3910" y="506577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0.35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5961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VADER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5623559"/>
            <a:ext cx="1613686" cy="310896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2334" y="559612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0.27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3703320"/>
            <a:ext cx="2423160" cy="18288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>
            <a:noFill/>
          </a:ln>
        </p:spPr>
        <p:txBody>
          <a:bodyPr rtlCol="0" anchor="ctr" wrap="square" lIns="137160" tIns="91440" rIns="137160" bIns="91440"/>
          <a:lstStyle/>
          <a:p>
            <a:pPr algn="ctr"/>
            <a:r>
              <a:rPr sz="3000" b="1">
                <a:solidFill>
                  <a:srgbClr val="EB6834"/>
                </a:solidFill>
                <a:latin typeface="Helvetica Neue"/>
              </a:rPr>
              <a:t>✓</a:t>
            </a:r>
          </a:p>
          <a:p>
            <a:pPr algn="ctr"/>
            <a:r>
              <a:rPr sz="1400" b="1">
                <a:solidFill>
                  <a:srgbClr val="1F2328"/>
                </a:solidFill>
                <a:latin typeface="Helvetica Neue"/>
              </a:rPr>
              <a:t>Name and source swaps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6B7280"/>
                </a:solidFill>
                <a:latin typeface="Helvetica Neue"/>
              </a:rPr>
              <a:t>0 of 39 tests show bias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Gold standard: 360 items, two annotators, adjudicated; LLM prompt frozen on 100 development items and scored once on 260 test items.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85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4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95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H2  ·  WHAT COVERAGE SHOWS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Even-handed tone, but more blame on the White House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6</a:t>
            </a:r>
          </a:p>
        </p:txBody>
      </p:sp>
      <p:sp>
        <p:nvSpPr>
          <p:cNvPr id="5" name="!!H1"/>
          <p:cNvSpPr/>
          <p:nvPr/>
        </p:nvSpPr>
        <p:spPr>
          <a:xfrm>
            <a:off x="1010412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H1</a:t>
            </a:r>
          </a:p>
        </p:txBody>
      </p:sp>
      <p:sp>
        <p:nvSpPr>
          <p:cNvPr id="6" name="!!H2"/>
          <p:cNvSpPr/>
          <p:nvPr/>
        </p:nvSpPr>
        <p:spPr>
          <a:xfrm>
            <a:off x="1065276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H2</a:t>
            </a:r>
          </a:p>
        </p:txBody>
      </p:sp>
      <p:sp>
        <p:nvSpPr>
          <p:cNvPr id="7" name="!!H3"/>
          <p:cNvSpPr/>
          <p:nvPr/>
        </p:nvSpPr>
        <p:spPr>
          <a:xfrm>
            <a:off x="1120140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B6834"/>
                </a:solidFill>
                <a:latin typeface="Helvetica Neue"/>
              </a:rPr>
              <a:t>✓   </a:t>
            </a:r>
            <a:r>
              <a:rPr sz="1900" b="0" i="0">
                <a:solidFill>
                  <a:srgbClr val="1F2328"/>
                </a:solidFill>
                <a:latin typeface="Helvetica Neue"/>
              </a:rPr>
              <a:t>Good and bad news treated alike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B6834"/>
                </a:solidFill>
                <a:latin typeface="Helvetica Neue"/>
              </a:rPr>
              <a:t>✓   </a:t>
            </a:r>
            <a:r>
              <a:rPr sz="1900" b="0" i="0">
                <a:solidFill>
                  <a:srgbClr val="1F2328"/>
                </a:solidFill>
                <a:latin typeface="Helvetica Neue"/>
              </a:rPr>
              <a:t>Rising and easing prices treated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3192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B6834"/>
                </a:solidFill>
                <a:latin typeface="Helvetica Neue"/>
              </a:rPr>
              <a:t>✓   </a:t>
            </a:r>
            <a:r>
              <a:rPr sz="1900" b="0" i="0">
                <a:solidFill>
                  <a:srgbClr val="1F2328"/>
                </a:solidFill>
                <a:latin typeface="Helvetica Neue"/>
              </a:rPr>
              <a:t>2 of 68 checkable numbers wrong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B7280"/>
                </a:solidFill>
                <a:latin typeface="Helvetica Neue"/>
              </a:rPr>
              <a:t>Share of economic news items blaming the White 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5065912"/>
            <a:ext cx="868680" cy="191887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627000"/>
            <a:ext cx="141731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F2328"/>
                </a:solidFill>
                <a:latin typeface="Helvetica Neue"/>
              </a:rPr>
              <a:t>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141731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Obama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4033194"/>
            <a:ext cx="868680" cy="1224605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3594282"/>
            <a:ext cx="141731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F2328"/>
                </a:solidFill>
                <a:latin typeface="Helvetica Neue"/>
              </a:rPr>
              <a:t>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349240"/>
            <a:ext cx="141731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Trump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4867728"/>
            <a:ext cx="868680" cy="390071"/>
          </a:xfrm>
          <a:prstGeom prst="rect">
            <a:avLst/>
          </a:prstGeom>
          <a:solidFill>
            <a:srgbClr val="C7CB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4428816"/>
            <a:ext cx="141731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F2328"/>
                </a:solidFill>
                <a:latin typeface="Helvetica Neue"/>
              </a:rPr>
              <a:t>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5349240"/>
            <a:ext cx="141731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Biden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2663293"/>
            <a:ext cx="868680" cy="2594506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19" y="2224381"/>
            <a:ext cx="141731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EB6834"/>
                </a:solidFill>
                <a:latin typeface="Helvetica Neue"/>
              </a:rPr>
              <a:t>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5349240"/>
            <a:ext cx="141731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F2328"/>
                </a:solidFill>
                <a:latin typeface="Helvetica Neue"/>
              </a:rPr>
              <a:t>Trump II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55080" y="5257800"/>
            <a:ext cx="5257800" cy="0"/>
          </a:xfrm>
          <a:prstGeom prst="line">
            <a:avLst/>
          </a:prstGeom>
          <a:ln w="15875">
            <a:solidFill>
              <a:srgbClr val="C7CB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9360" y="58064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328"/>
                </a:solidFill>
                <a:latin typeface="Helvetica Neue"/>
              </a:rPr>
              <a:t>Blame is not proof of bias: </a:t>
            </a:r>
            <a:r>
              <a:rPr sz="1400" b="0" i="0">
                <a:solidFill>
                  <a:srgbClr val="1F2328"/>
                </a:solidFill>
                <a:latin typeface="Helvetica Neue"/>
              </a:rPr>
              <a:t>tariffs are the president’s own decisions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National news (NYT, Guardian), LLM-coded. Factual check against the official data available on the publication date.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4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"/>
                            </p:stCondLst>
                            <p:childTnLst>
                              <p:par>
                                <p:cTn id="3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300"/>
                            </p:stCondLst>
                            <p:childTnLst>
                              <p:par>
                                <p:cTn id="4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100"/>
                            </p:stCondLst>
                            <p:childTnLst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9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13" grpId="0" animBg="1"/>
      <p:bldP spid="16" grpId="0" animBg="1"/>
      <p:bldP spid="19" grpId="0" animBg="1"/>
      <p:bldP spid="21" grpId="0" animBg="1"/>
      <p:bldP spid="23" grpId="0" animBg="1"/>
      <p:bldP spid="22" grpId="0" animBg="1"/>
      <p:bldP spid="2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H2  ·  THE FORECAST TEST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Tone stops helping forecasts once controls are in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7</a:t>
            </a:r>
          </a:p>
        </p:txBody>
      </p:sp>
      <p:sp>
        <p:nvSpPr>
          <p:cNvPr id="5" name="!!H1"/>
          <p:cNvSpPr/>
          <p:nvPr/>
        </p:nvSpPr>
        <p:spPr>
          <a:xfrm>
            <a:off x="1010412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H1</a:t>
            </a:r>
          </a:p>
        </p:txBody>
      </p:sp>
      <p:sp>
        <p:nvSpPr>
          <p:cNvPr id="6" name="!!H2"/>
          <p:cNvSpPr/>
          <p:nvPr/>
        </p:nvSpPr>
        <p:spPr>
          <a:xfrm>
            <a:off x="1065276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H2</a:t>
            </a:r>
          </a:p>
        </p:txBody>
      </p:sp>
      <p:sp>
        <p:nvSpPr>
          <p:cNvPr id="7" name="!!H3"/>
          <p:cNvSpPr/>
          <p:nvPr/>
        </p:nvSpPr>
        <p:spPr>
          <a:xfrm>
            <a:off x="11201400" y="402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Helvetica Neue"/>
              </a:rPr>
              <a:t>H3</a:t>
            </a:r>
          </a:p>
        </p:txBody>
      </p:sp>
      <p:pic>
        <p:nvPicPr>
          <p:cNvPr id="8" name="Picture 7" descr="spec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607040" cy="3246120"/>
          </a:xfrm>
          <a:prstGeom prst="rect">
            <a:avLst/>
          </a:prstGeom>
        </p:spPr>
      </p:pic>
      <p:pic>
        <p:nvPicPr>
          <p:cNvPr id="9" name="layer row1" descr="spec_row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10607040" cy="3246120"/>
          </a:xfrm>
          <a:prstGeom prst="rect">
            <a:avLst/>
          </a:prstGeom>
        </p:spPr>
      </p:pic>
      <p:pic>
        <p:nvPicPr>
          <p:cNvPr id="10" name="layer row2" descr="spec_row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10607040" cy="3246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EB6834"/>
                </a:solidFill>
                <a:latin typeface="Helvetica Neue"/>
              </a:rPr>
              <a:t>≤ 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5074920"/>
            <a:ext cx="77724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2328"/>
                </a:solidFill>
                <a:latin typeface="Helvetica Neue"/>
              </a:rPr>
              <a:t>of the 2025–26 gap is linked to news tone, at most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One-step-ahead forecasts 2017–26, Clark–West test. Outlined dot = main specification. Controls: household pressures, governing party, pre-election month.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VERDICT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Media bias is not the main explanation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8</a:t>
            </a:r>
          </a:p>
        </p:txBody>
      </p:sp>
      <p:sp>
        <p:nvSpPr>
          <p:cNvPr id="5" name="!!H1"/>
          <p:cNvSpPr/>
          <p:nvPr/>
        </p:nvSpPr>
        <p:spPr>
          <a:xfrm>
            <a:off x="594360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H1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Real pressures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High prices and rates the headline numbers miss</a:t>
            </a:r>
          </a:p>
        </p:txBody>
      </p:sp>
      <p:sp>
        <p:nvSpPr>
          <p:cNvPr id="6" name="!!H2"/>
          <p:cNvSpPr/>
          <p:nvPr/>
        </p:nvSpPr>
        <p:spPr>
          <a:xfrm>
            <a:off x="4370832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H2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Media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Selection, framing or bias in coverage</a:t>
            </a:r>
          </a:p>
        </p:txBody>
      </p:sp>
      <p:sp>
        <p:nvSpPr>
          <p:cNvPr id="7" name="!!H3"/>
          <p:cNvSpPr/>
          <p:nvPr/>
        </p:nvSpPr>
        <p:spPr>
          <a:xfrm>
            <a:off x="8147304" y="1691640"/>
            <a:ext cx="3502152" cy="333756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</p:spPr>
        <p:txBody>
          <a:bodyPr rtlCol="0" anchor="t" wrap="square" lIns="292608" tIns="274320" rIns="292608" bIns="182880"/>
          <a:lstStyle/>
          <a:p>
            <a:pPr algn="l"/>
            <a:r>
              <a:rPr sz="1500" b="1" spc="100">
                <a:solidFill>
                  <a:srgbClr val="EB6834"/>
                </a:solidFill>
                <a:latin typeface="Helvetica Neue"/>
              </a:rPr>
              <a:t>H3</a:t>
            </a:r>
          </a:p>
          <a:p>
            <a:pPr algn="l">
              <a:spcBef>
                <a:spcPts val="400"/>
              </a:spcBef>
            </a:pPr>
            <a:r>
              <a:rPr sz="2600" b="1">
                <a:solidFill>
                  <a:srgbClr val="1F2328"/>
                </a:solidFill>
                <a:latin typeface="Helvetica Neue"/>
              </a:rPr>
              <a:t>Measurement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6B7280"/>
                </a:solidFill>
                <a:latin typeface="Helvetica Neue"/>
              </a:rPr>
              <a:t>Survey method, timing or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36118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400" b="1" spc="100">
                <a:solidFill>
                  <a:srgbClr val="FFFFFF"/>
                </a:solidFill>
                <a:latin typeface="Helvetica Neue"/>
              </a:rPr>
              <a:t>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206240"/>
            <a:ext cx="29535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328"/>
                </a:solidFill>
                <a:latin typeface="Helvetica Neue"/>
              </a:rPr>
              <a:t>Plausible, but the 2010–19 data cannot size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118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400" b="1" spc="100">
                <a:solidFill>
                  <a:srgbClr val="FFFFFF"/>
                </a:solidFill>
                <a:latin typeface="Helvetica Neue"/>
              </a:rPr>
              <a:t>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206240"/>
            <a:ext cx="29535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328"/>
                </a:solidFill>
                <a:latin typeface="Helvetica Neue"/>
              </a:rPr>
              <a:t>≤ 5% of the gap; 2 of 8 tests go against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9912" y="36118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 wrap="square" lIns="0" tIns="0" rIns="0" bIns="0"/>
          <a:lstStyle/>
          <a:p>
            <a:pPr algn="ctr"/>
            <a:r>
              <a:rPr sz="1400" b="1" spc="100">
                <a:solidFill>
                  <a:srgbClr val="FFFFFF"/>
                </a:solidFill>
                <a:latin typeface="Helvetica Neue"/>
              </a:rPr>
              <a:t>RULED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4206240"/>
            <a:ext cx="29535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328"/>
                </a:solidFill>
                <a:latin typeface="Helvetica Neue"/>
              </a:rPr>
              <a:t>Not survey mode, party mix or timing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40680"/>
            <a:ext cx="11002975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328"/>
                </a:solidFill>
                <a:latin typeface="Helvetica Neue"/>
              </a:rPr>
              <a:t>Limits  </a:t>
            </a:r>
            <a:r>
              <a:rPr sz="1400" b="0" i="0">
                <a:solidFill>
                  <a:srgbClr val="6B7280"/>
                </a:solidFill>
                <a:latin typeface="Helvetica Neue"/>
              </a:rPr>
              <a:t>observational data; two national outlets, about 26 items a month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328"/>
                </a:solidFill>
                <a:latin typeface="Helvetica Neue"/>
              </a:rPr>
              <a:t>Next  </a:t>
            </a:r>
            <a:r>
              <a:rPr sz="1400" b="0" i="0">
                <a:solidFill>
                  <a:srgbClr val="6B7280"/>
                </a:solidFill>
                <a:latin typeface="Helvetica Neue"/>
              </a:rPr>
              <a:t>a randomized framing experiment to test cause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5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0" grpId="0" animBg="1"/>
      <p:bldP spid="11" grpId="0" animBg="1"/>
      <p:bldP spid="8" grpId="0" animBg="1"/>
      <p:bldP spid="9" grpId="0" animBg="1"/>
      <p:bldP spid="1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kicker"/>
          <p:cNvSpPr txBox="1"/>
          <p:nvPr/>
        </p:nvSpPr>
        <p:spPr>
          <a:xfrm>
            <a:off x="594360" y="384048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EB6834"/>
                </a:solidFill>
                <a:latin typeface="Helvetica Neue"/>
              </a:rPr>
              <a:t>IMPLICATION FOR FORECASTING AND RISK</a:t>
            </a:r>
          </a:p>
        </p:txBody>
      </p:sp>
      <p:sp>
        <p:nvSpPr>
          <p:cNvPr id="3" name="!!title"/>
          <p:cNvSpPr txBox="1"/>
          <p:nvPr/>
        </p:nvSpPr>
        <p:spPr>
          <a:xfrm>
            <a:off x="594360" y="731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Treat the gap as persistent, not as noise</a:t>
            </a:r>
          </a:p>
        </p:txBody>
      </p:sp>
      <p:sp>
        <p:nvSpPr>
          <p:cNvPr id="4" name="!!pagenum"/>
          <p:cNvSpPr txBox="1"/>
          <p:nvPr/>
        </p:nvSpPr>
        <p:spPr>
          <a:xfrm>
            <a:off x="11048695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280"/>
                </a:solidFill>
                <a:latin typeface="Helvetica Neu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74519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B7280"/>
                </a:solidFill>
                <a:latin typeface="Helvetica Neue"/>
              </a:rPr>
              <a:t>Michigan index, 2026 average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231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A78D6"/>
                </a:solidFill>
                <a:latin typeface="Helvetica Neue"/>
              </a:rPr>
              <a:t>Economy predicts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807208"/>
            <a:ext cx="5488039" cy="50292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9559" y="2770632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A78D6"/>
                </a:solidFill>
                <a:latin typeface="Helvetica Neue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57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328"/>
                </a:solidFill>
                <a:latin typeface="Helvetica Neue"/>
              </a:rPr>
              <a:t>People say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41648"/>
            <a:ext cx="3088129" cy="502920"/>
          </a:xfrm>
          <a:prstGeom prst="rect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9649" y="4005072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328"/>
                </a:solidFill>
                <a:latin typeface="Helvetica Neue"/>
              </a:rPr>
              <a:t>51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14475" y="2286000"/>
            <a:ext cx="0" cy="2514600"/>
          </a:xfrm>
          <a:prstGeom prst="line">
            <a:avLst/>
          </a:prstGeom>
          <a:ln w="22225">
            <a:solidFill>
              <a:srgbClr val="EB68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37035" y="48920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Helvetica Neue"/>
              </a:rPr>
              <a:t>Lowest reading before 2020: 51.7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Helvetica Neue"/>
              </a:rPr>
              <a:t>(May 1980; series since 1952)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01168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B6834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05740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328"/>
                </a:solidFill>
                <a:latin typeface="Helvetica Neue"/>
              </a:rPr>
              <a:t>Don’t use pre-2020 mappings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They would read today as a deep downturn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33756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B6834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38328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328"/>
                </a:solidFill>
                <a:latin typeface="Helvetica Neue"/>
              </a:rPr>
              <a:t>Track the gap and its error band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Next to price levels and mortgage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66344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B6834"/>
                </a:solidFill>
                <a:latin typeface="Helvetica Neu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470915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328"/>
                </a:solidFill>
                <a:latin typeface="Helvetica Neue"/>
              </a:rPr>
              <a:t>Skip news-tone signals here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 i="0">
                <a:solidFill>
                  <a:srgbClr val="6B7280"/>
                </a:solidFill>
                <a:latin typeface="Helvetica Neue"/>
              </a:rPr>
              <a:t>No forecast gain once those are included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594360" y="64190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280"/>
                </a:solidFill>
                <a:latin typeface="Helvetica Neue"/>
              </a:rPr>
              <a:t>Prediction: economy-only model (real-time data, fit 2010–19), January–October 2026. The dashboard tracks the gap and its band each month.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2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4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