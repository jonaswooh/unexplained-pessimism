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11 s  ·  23 words  ·  0 clicks</a:t>
            </a:r>
          </a:p>
          <a:p/>
          <a:p>
            <a:r>
              <a:t>Hi, I’m Jonas. Americans feel much worse about the economy than the numbers suggest. Is the news to blame? Our answer: mostly no.</a:t>
            </a:r>
          </a:p>
          <a:p/>
          <a:p>
            <a:r>
              <a:t>—— 中文对照 ——</a:t>
            </a:r>
          </a:p>
          <a:p>
            <a:r>
              <a:t>大家好，我是 Jonas。美国人对经济的感受比数据显示的差得多。这要怪新闻吗？我们的答案是：基本不是。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27 s  ·  54 words  ·  3 clicks</a:t>
            </a:r>
          </a:p>
          <a:p/>
          <a:p>
            <a:r>
              <a:t>First, the gap. We predict the Michigan index from unemployment, inflation and GDP growth, using only data known at the time. [CLICK] Blue is the prediction. [CLICK] Black is what people say. [CLICK] The gap is about 36 points in 2025 and 40 in 2026. The economy explains only about a tenth of the drop since 2019.</a:t>
            </a:r>
          </a:p>
          <a:p/>
          <a:p>
            <a:r>
              <a:t>—— 中文对照 ——</a:t>
            </a:r>
          </a:p>
          <a:p>
            <a:r>
              <a:t>先看缺口。我们用失业率、通胀和 GDP 增长来预测密歇根消费者信心指数，而且只用当时已知的数据。[点击] 蓝线是预测值。[点击] 黑线是人们实际的回答。[点击] 缺口在 2025 年约 36 点，2026 年约 40 点。2019 年以来的下降，经济数据只能解释大约十分之一。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20 s  ·  41 words  ·  1 clicks</a:t>
            </a:r>
          </a:p>
          <a:p/>
          <a:p>
            <a:r>
              <a:t>Three explanations are possible: real pressures the headline numbers miss, like high prices; the media; or a problem with the survey or the model. [CLICK] We fixed all our tests in advance, including eight results that would count against the media story.</a:t>
            </a:r>
          </a:p>
          <a:p/>
          <a:p>
            <a:r>
              <a:t>—— 中文对照 ——</a:t>
            </a:r>
          </a:p>
          <a:p>
            <a:r>
              <a:t>可能的解释有三种：一是头条数据没有反映的真实压力，比如物价太高；二是媒体；三是调查或模型本身的问题。[点击] 所有检验都是事先定好的，其中包括八条一旦出现就不利于媒体解释的结果。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23 s  ·  45 words  ·  3 clicks</a:t>
            </a:r>
          </a:p>
          <a:p/>
          <a:p>
            <a:r>
              <a:t>Start with measurement. The gap is similar in every income, age, region and education group. [CLICK] The survey moved online in 2024, but the gap kept growing after that. [CLICK] Party mix moves it by less than 3 points. [CLICK] And it was this large before the campaign.</a:t>
            </a:r>
          </a:p>
          <a:p/>
          <a:p>
            <a:r>
              <a:t>—— 中文对照 ——</a:t>
            </a:r>
          </a:p>
          <a:p>
            <a:r>
              <a:t>先看测量问题。各个收入、年龄、地区和学历组的缺口都差不多。[点击] 2024 年调查改成了线上，但之后缺口还在扩大。[点击] 党派构成的变化最多只带来不到 3 点。[点击] 而且竞选开始之前缺口就已经这么大了。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29 s  ·  59 words  ·  2 clicks</a:t>
            </a:r>
          </a:p>
          <a:p/>
          <a:p>
            <a:r>
              <a:t>Now the media. We collected about 167,000 news items, posts and comments. An LLM coded over 11,000, and two people labeled 360 by hand to check it. [CLICK] On tone, the LLM agrees with humans almost as well as they agree with each other, and about twice as well as word lists. [CLICK] Swapping political names showed no sign of bias.</a:t>
            </a:r>
          </a:p>
          <a:p/>
          <a:p>
            <a:r>
              <a:t>—— 中文对照 ——</a:t>
            </a:r>
          </a:p>
          <a:p>
            <a:r>
              <a:t>再看媒体。我们收集了约 16.7 万条新闻、帖子和评论，用大语言模型编码了其中一万一千多条，并请两个人独立手工标注了 360 条来检验。[点击] 在语气上，模型和人的一致程度几乎和两个人之间一样高，大约是词典法的两倍。[点击] 把政治人物的名字互换之后，也没有发现偏差。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22 s  ·  45 words  ·  2 clicks</a:t>
            </a:r>
          </a:p>
          <a:p/>
          <a:p>
            <a:r>
              <a:t>Coverage treats good and bad news alike, and only 2 of 68 checkable numbers were wrong. [CLICK] What changed is blame: under Trump’s second term, 40 percent of items blame the White House. [CLICK] But tariffs are his own decisions, so blame is not proof of bias.</a:t>
            </a:r>
          </a:p>
          <a:p/>
          <a:p>
            <a:r>
              <a:t>—— 中文对照 ——</a:t>
            </a:r>
          </a:p>
          <a:p>
            <a:r>
              <a:t>报道对好消息和坏消息的处理差不多，能核对的 68 个数字里只有 2 个是错的。[点击] 变化最大的是归咎：特朗普第二任期内，40% 的报道把问题归咎于白宫。[点击] 但关税本来就是总统自己的决定，所以归咎不能证明有偏差。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25 s  ·  49 words  ·  3 clicks</a:t>
            </a:r>
          </a:p>
          <a:p/>
          <a:p>
            <a:r>
              <a:t>The key test: does news tone help forecast sentiment? Each dot is one version of the test. [CLICK] Added to the economy model, tone helps a little. [CLICK] But with household costs and politics included, none of 20 versions is significant. [CLICK] At most, tone explains about 5 percent of the gap.</a:t>
            </a:r>
          </a:p>
          <a:p/>
          <a:p>
            <a:r>
              <a:t>—— 中文对照 ——</a:t>
            </a:r>
          </a:p>
          <a:p>
            <a:r>
              <a:t>关键检验：新闻语气能不能帮助预测消费者信心？每个点是检验的一个版本。[点击] 只加在经济模型上时，语气有一点帮助。[点击] 但加入家庭成本和政治因素之后，20 个版本没有一个显著。[点击] 语气最多只能解释缺口的约 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22 s  ·  42 words  ·  3 clicks</a:t>
            </a:r>
          </a:p>
          <a:p/>
          <a:p>
            <a:r>
              <a:t>Back to our three explanations. [CLICK] Measurement is ruled out. [CLICK] The media story is weak: two of our eight tests go against it. [CLICK] Real pressures stay open: high prices may matter, but our data cannot size them. Next, an experiment could test cause.</a:t>
            </a:r>
          </a:p>
          <a:p/>
          <a:p>
            <a:r>
              <a:t>—— 中文对照 ——</a:t>
            </a:r>
          </a:p>
          <a:p>
            <a:r>
              <a:t>回到三种解释。[点击] 测量问题被排除了。[点击] 媒体解释很弱：八条预设检验中有两条与它相反。[点击] 真实压力还没有定论：高物价可能有影响，但我们的数据无法量化。下一步可以用实验来检验因果。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30 s  ·  60 words  ·  3 clicks</a:t>
            </a:r>
          </a:p>
          <a:p/>
          <a:p>
            <a:r>
              <a:t>What does this mean for finance? [CLICK] In 2026 the index averages about 51; the economy points to 91. [CLICK] That is below any reading before 2020, so old models would see a deep downturn. [CLICK] So treat the gap as lasting, not noise. Track it with its error band, next to prices and rates. News tone will not fix it. Thank you.</a:t>
            </a:r>
          </a:p>
          <a:p/>
          <a:p>
            <a:r>
              <a:t>—— 中文对照 ——</a:t>
            </a:r>
          </a:p>
          <a:p>
            <a:r>
              <a:t>这对金融意味着什么？[点击] 2026 年这个指数平均约 51，经济数据指向 91。[点击] 这比 2020 年以前的任何读数都低，按旧规律建的模型会把它看成深度衰退。[点击] 所以要把缺口当成持续的状态，而不是噪音；连同误差带一起跟踪它，同时看物价和利率。新闻语气修正不了它。谢谢大家。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258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EB6834"/>
                </a:solidFill>
                <a:latin typeface="Helvetica Neue"/>
              </a:rPr>
              <a:t>AI APPLICATIONS IN FINANCE  · 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Helvetica Neue"/>
              </a:rPr>
              <a:t>Unexplained Pessimism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C9CDD3"/>
                </a:solidFill>
                <a:latin typeface="Helvetica Neue"/>
              </a:rPr>
              <a:t>Economic fundamentals, media narratives and U.S. consumer sentiment before the 2026 midterms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1AB"/>
                </a:solidFill>
                <a:latin typeface="Helvetica Neue"/>
              </a:rPr>
              <a:t>Jonas Wu   ·   Data through October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kicker"/>
          <p:cNvSpPr txBox="1"/>
          <p:nvPr/>
        </p:nvSpPr>
        <p:spPr>
          <a:xfrm>
            <a:off x="594360" y="38404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EB6834"/>
                </a:solidFill>
                <a:latin typeface="Helvetica Neue"/>
              </a:rPr>
              <a:t>THE PUZZLE</a:t>
            </a:r>
          </a:p>
        </p:txBody>
      </p:sp>
      <p:sp>
        <p:nvSpPr>
          <p:cNvPr id="3" name="!!title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F2328"/>
                </a:solidFill>
                <a:latin typeface="Helvetica Neue"/>
              </a:rPr>
              <a:t>Sentiment is ~40 points below the economy’s prediction</a:t>
            </a:r>
          </a:p>
        </p:txBody>
      </p:sp>
      <p:sp>
        <p:nvSpPr>
          <p:cNvPr id="4" name="!!pagenum"/>
          <p:cNvSpPr txBox="1"/>
          <p:nvPr/>
        </p:nvSpPr>
        <p:spPr>
          <a:xfrm>
            <a:off x="11048695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Helvetica Neue"/>
              </a:rPr>
              <a:t>2</a:t>
            </a:r>
          </a:p>
        </p:txBody>
      </p:sp>
      <p:pic>
        <p:nvPicPr>
          <p:cNvPr id="5" name="Picture 4" descr="gap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0"/>
            <a:ext cx="7955279" cy="4526280"/>
          </a:xfrm>
          <a:prstGeom prst="rect">
            <a:avLst/>
          </a:prstGeom>
        </p:spPr>
      </p:pic>
      <p:pic>
        <p:nvPicPr>
          <p:cNvPr id="6" name="layer model" descr="gap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54480"/>
            <a:ext cx="7955279" cy="4526280"/>
          </a:xfrm>
          <a:prstGeom prst="rect">
            <a:avLst/>
          </a:prstGeom>
        </p:spPr>
      </p:pic>
      <p:pic>
        <p:nvPicPr>
          <p:cNvPr id="7" name="layer actual" descr="gap_act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554480"/>
            <a:ext cx="7955279" cy="4526280"/>
          </a:xfrm>
          <a:prstGeom prst="rect">
            <a:avLst/>
          </a:prstGeom>
        </p:spPr>
      </p:pic>
      <p:pic>
        <p:nvPicPr>
          <p:cNvPr id="8" name="layer gap" descr="gap_g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554480"/>
            <a:ext cx="7955279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2520" y="178308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B6834"/>
                </a:solidFill>
                <a:latin typeface="Helvetica Neue"/>
              </a:rPr>
              <a:t>−35.8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 i="0">
                <a:solidFill>
                  <a:srgbClr val="6B7280"/>
                </a:solidFill>
                <a:latin typeface="Helvetica Neue"/>
              </a:rPr>
              <a:t>points, 2025 average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15468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B6834"/>
                </a:solidFill>
                <a:latin typeface="Helvetica Neue"/>
              </a:rPr>
              <a:t>−39.8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 i="0">
                <a:solidFill>
                  <a:srgbClr val="6B7280"/>
                </a:solidFill>
                <a:latin typeface="Helvetica Neue"/>
              </a:rPr>
              <a:t>points, 2026 average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52628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F2328"/>
                </a:solidFill>
                <a:latin typeface="Helvetica Neue"/>
              </a:rPr>
              <a:t>7–11%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400" b="0" i="0">
                <a:solidFill>
                  <a:srgbClr val="6B7280"/>
                </a:solidFill>
                <a:latin typeface="Helvetica Neue"/>
              </a:rPr>
              <a:t>of the fall since 2019 that the economy explains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94360" y="641908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Helvetica Neue"/>
              </a:rPr>
              <a:t>Model: real-time unemployment, PCE inflation and GDP growth (ALFRED vintages), fit 2010–19. Band: 95% prediction interval. Pandemic months not modelled.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5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kicker"/>
          <p:cNvSpPr txBox="1"/>
          <p:nvPr/>
        </p:nvSpPr>
        <p:spPr>
          <a:xfrm>
            <a:off x="594360" y="38404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EB6834"/>
                </a:solidFill>
                <a:latin typeface="Helvetica Neue"/>
              </a:rPr>
              <a:t>THREE EXPLANATIONS</a:t>
            </a:r>
          </a:p>
        </p:txBody>
      </p:sp>
      <p:sp>
        <p:nvSpPr>
          <p:cNvPr id="3" name="!!title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F2328"/>
                </a:solidFill>
                <a:latin typeface="Helvetica Neue"/>
              </a:rPr>
              <a:t>Three ways to explain the gap</a:t>
            </a:r>
          </a:p>
        </p:txBody>
      </p:sp>
      <p:sp>
        <p:nvSpPr>
          <p:cNvPr id="4" name="!!pagenum"/>
          <p:cNvSpPr txBox="1"/>
          <p:nvPr/>
        </p:nvSpPr>
        <p:spPr>
          <a:xfrm>
            <a:off x="11048695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Helvetica Neue"/>
              </a:rPr>
              <a:t>3</a:t>
            </a:r>
          </a:p>
        </p:txBody>
      </p:sp>
      <p:sp>
        <p:nvSpPr>
          <p:cNvPr id="5" name="!!H1"/>
          <p:cNvSpPr/>
          <p:nvPr/>
        </p:nvSpPr>
        <p:spPr>
          <a:xfrm>
            <a:off x="594360" y="1691640"/>
            <a:ext cx="3502152" cy="33375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</p:spPr>
        <p:txBody>
          <a:bodyPr rtlCol="0" anchor="t" wrap="square" lIns="292608" tIns="274320" rIns="292608" bIns="182880"/>
          <a:lstStyle/>
          <a:p>
            <a:pPr algn="l"/>
            <a:r>
              <a:rPr sz="1500" b="1" spc="100">
                <a:solidFill>
                  <a:srgbClr val="EB6834"/>
                </a:solidFill>
                <a:latin typeface="Helvetica Neue"/>
              </a:rPr>
              <a:t>H1</a:t>
            </a:r>
          </a:p>
          <a:p>
            <a:pPr algn="l">
              <a:spcBef>
                <a:spcPts val="400"/>
              </a:spcBef>
            </a:pPr>
            <a:r>
              <a:rPr sz="2600" b="1">
                <a:solidFill>
                  <a:srgbClr val="1F2328"/>
                </a:solidFill>
                <a:latin typeface="Helvetica Neue"/>
              </a:rPr>
              <a:t>Real pressures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Helvetica Neue"/>
              </a:rPr>
              <a:t>High prices and rates the headline numbers miss</a:t>
            </a:r>
          </a:p>
        </p:txBody>
      </p:sp>
      <p:sp>
        <p:nvSpPr>
          <p:cNvPr id="6" name="!!H2"/>
          <p:cNvSpPr/>
          <p:nvPr/>
        </p:nvSpPr>
        <p:spPr>
          <a:xfrm>
            <a:off x="4370832" y="1691640"/>
            <a:ext cx="3502152" cy="33375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</p:spPr>
        <p:txBody>
          <a:bodyPr rtlCol="0" anchor="t" wrap="square" lIns="292608" tIns="274320" rIns="292608" bIns="182880"/>
          <a:lstStyle/>
          <a:p>
            <a:pPr algn="l"/>
            <a:r>
              <a:rPr sz="1500" b="1" spc="100">
                <a:solidFill>
                  <a:srgbClr val="EB6834"/>
                </a:solidFill>
                <a:latin typeface="Helvetica Neue"/>
              </a:rPr>
              <a:t>H2</a:t>
            </a:r>
          </a:p>
          <a:p>
            <a:pPr algn="l">
              <a:spcBef>
                <a:spcPts val="400"/>
              </a:spcBef>
            </a:pPr>
            <a:r>
              <a:rPr sz="2600" b="1">
                <a:solidFill>
                  <a:srgbClr val="1F2328"/>
                </a:solidFill>
                <a:latin typeface="Helvetica Neue"/>
              </a:rPr>
              <a:t>Media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Helvetica Neue"/>
              </a:rPr>
              <a:t>Selection, framing or bias in coverage</a:t>
            </a:r>
          </a:p>
        </p:txBody>
      </p:sp>
      <p:sp>
        <p:nvSpPr>
          <p:cNvPr id="7" name="!!H3"/>
          <p:cNvSpPr/>
          <p:nvPr/>
        </p:nvSpPr>
        <p:spPr>
          <a:xfrm>
            <a:off x="8147304" y="1691640"/>
            <a:ext cx="3502152" cy="33375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</p:spPr>
        <p:txBody>
          <a:bodyPr rtlCol="0" anchor="t" wrap="square" lIns="292608" tIns="274320" rIns="292608" bIns="182880"/>
          <a:lstStyle/>
          <a:p>
            <a:pPr algn="l"/>
            <a:r>
              <a:rPr sz="1500" b="1" spc="100">
                <a:solidFill>
                  <a:srgbClr val="EB6834"/>
                </a:solidFill>
                <a:latin typeface="Helvetica Neue"/>
              </a:rPr>
              <a:t>H3</a:t>
            </a:r>
          </a:p>
          <a:p>
            <a:pPr algn="l">
              <a:spcBef>
                <a:spcPts val="400"/>
              </a:spcBef>
            </a:pPr>
            <a:r>
              <a:rPr sz="2600" b="1">
                <a:solidFill>
                  <a:srgbClr val="1F2328"/>
                </a:solidFill>
                <a:latin typeface="Helvetica Neue"/>
              </a:rPr>
              <a:t>Measurement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Helvetica Neue"/>
              </a:rPr>
              <a:t>Survey method, timing or the model</a:t>
            </a:r>
          </a:p>
        </p:txBody>
      </p:sp>
      <p:sp>
        <p:nvSpPr>
          <p:cNvPr id="8" name="verdict q0"/>
          <p:cNvSpPr txBox="1"/>
          <p:nvPr/>
        </p:nvSpPr>
        <p:spPr>
          <a:xfrm>
            <a:off x="594360" y="3703320"/>
            <a:ext cx="35021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C7CBD1"/>
                </a:solidFill>
                <a:latin typeface="Helvetica Neue"/>
              </a:rPr>
              <a:t>?</a:t>
            </a:r>
          </a:p>
        </p:txBody>
      </p:sp>
      <p:sp>
        <p:nvSpPr>
          <p:cNvPr id="9" name="verdict q1"/>
          <p:cNvSpPr txBox="1"/>
          <p:nvPr/>
        </p:nvSpPr>
        <p:spPr>
          <a:xfrm>
            <a:off x="4370832" y="3703320"/>
            <a:ext cx="35021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C7CBD1"/>
                </a:solidFill>
                <a:latin typeface="Helvetica Neue"/>
              </a:rPr>
              <a:t>?</a:t>
            </a:r>
          </a:p>
        </p:txBody>
      </p:sp>
      <p:sp>
        <p:nvSpPr>
          <p:cNvPr id="10" name="verdict q2"/>
          <p:cNvSpPr txBox="1"/>
          <p:nvPr/>
        </p:nvSpPr>
        <p:spPr>
          <a:xfrm>
            <a:off x="8147304" y="3703320"/>
            <a:ext cx="350215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C7CBD1"/>
                </a:solidFill>
                <a:latin typeface="Helvetica Neue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486400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B6834"/>
                </a:solidFill>
                <a:latin typeface="Helvetica Neue"/>
              </a:rPr>
              <a:t>●  </a:t>
            </a:r>
            <a:r>
              <a:rPr sz="1700" b="0" i="0">
                <a:solidFill>
                  <a:srgbClr val="1F2328"/>
                </a:solidFill>
                <a:latin typeface="Helvetica Neue"/>
              </a:rPr>
              <a:t>All tests fixed before estimation</a:t>
            </a:r>
            <a:r>
              <a:rPr sz="1200" b="0" i="0">
                <a:solidFill>
                  <a:srgbClr val="EB6834"/>
                </a:solidFill>
                <a:latin typeface="Helvetica Neue"/>
              </a:rPr>
              <a:t>        ●  </a:t>
            </a:r>
            <a:r>
              <a:rPr sz="1700" b="0" i="0">
                <a:solidFill>
                  <a:srgbClr val="1F2328"/>
                </a:solidFill>
                <a:latin typeface="Helvetica Neue"/>
              </a:rPr>
              <a:t>150 specifications registered</a:t>
            </a:r>
            <a:r>
              <a:rPr sz="1200" b="0" i="0">
                <a:solidFill>
                  <a:srgbClr val="EB6834"/>
                </a:solidFill>
                <a:latin typeface="Helvetica Neue"/>
              </a:rPr>
              <a:t>        ●  </a:t>
            </a:r>
            <a:r>
              <a:rPr sz="1700" b="0" i="0">
                <a:solidFill>
                  <a:srgbClr val="1F2328"/>
                </a:solidFill>
                <a:latin typeface="Helvetica Neue"/>
              </a:rPr>
              <a:t>8 pre-set tests against the media story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6" grpId="0" animBg="1"/>
      <p:bldP spid="9" grpId="0" animBg="1"/>
      <p:bldP spid="7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kicker"/>
          <p:cNvSpPr txBox="1"/>
          <p:nvPr/>
        </p:nvSpPr>
        <p:spPr>
          <a:xfrm>
            <a:off x="594360" y="38404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EB6834"/>
                </a:solidFill>
                <a:latin typeface="Helvetica Neue"/>
              </a:rPr>
              <a:t>H3  ·  MEASUREMENT</a:t>
            </a:r>
          </a:p>
        </p:txBody>
      </p:sp>
      <p:sp>
        <p:nvSpPr>
          <p:cNvPr id="3" name="!!title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F2328"/>
                </a:solidFill>
                <a:latin typeface="Helvetica Neue"/>
              </a:rPr>
              <a:t>Not the survey, not party mix, not the campaign</a:t>
            </a:r>
          </a:p>
        </p:txBody>
      </p:sp>
      <p:sp>
        <p:nvSpPr>
          <p:cNvPr id="4" name="!!pagenum"/>
          <p:cNvSpPr txBox="1"/>
          <p:nvPr/>
        </p:nvSpPr>
        <p:spPr>
          <a:xfrm>
            <a:off x="11048695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Helvetica Neue"/>
              </a:rPr>
              <a:t>4</a:t>
            </a:r>
          </a:p>
        </p:txBody>
      </p:sp>
      <p:sp>
        <p:nvSpPr>
          <p:cNvPr id="5" name="!!H1"/>
          <p:cNvSpPr/>
          <p:nvPr/>
        </p:nvSpPr>
        <p:spPr>
          <a:xfrm>
            <a:off x="1010412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Helvetica Neue"/>
              </a:rPr>
              <a:t>H1</a:t>
            </a:r>
          </a:p>
        </p:txBody>
      </p:sp>
      <p:sp>
        <p:nvSpPr>
          <p:cNvPr id="6" name="!!H2"/>
          <p:cNvSpPr/>
          <p:nvPr/>
        </p:nvSpPr>
        <p:spPr>
          <a:xfrm>
            <a:off x="1065276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Helvetica Neue"/>
              </a:rPr>
              <a:t>H2</a:t>
            </a:r>
          </a:p>
        </p:txBody>
      </p:sp>
      <p:sp>
        <p:nvSpPr>
          <p:cNvPr id="7" name="!!H3"/>
          <p:cNvSpPr/>
          <p:nvPr/>
        </p:nvSpPr>
        <p:spPr>
          <a:xfrm>
            <a:off x="1120140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H3</a:t>
            </a:r>
          </a:p>
        </p:txBody>
      </p:sp>
      <p:pic>
        <p:nvPicPr>
          <p:cNvPr id="8" name="Picture 7" descr="groups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630936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60920" y="1691640"/>
            <a:ext cx="4297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2328"/>
                </a:solidFill>
                <a:latin typeface="Helvetica Neue"/>
              </a:rPr>
              <a:t>−23 → −39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00" b="0" i="0">
                <a:solidFill>
                  <a:srgbClr val="6B7280"/>
                </a:solidFill>
                <a:latin typeface="Helvetica Neue"/>
              </a:rPr>
              <a:t>Gap kept widening after the survey moved online (late 2024 →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108960"/>
            <a:ext cx="4297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2328"/>
                </a:solidFill>
                <a:latin typeface="Helvetica Neue"/>
              </a:rPr>
              <a:t>≤ 2.7 pts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00" b="0" i="0">
                <a:solidFill>
                  <a:srgbClr val="6B7280"/>
                </a:solidFill>
                <a:latin typeface="Helvetica Neue"/>
              </a:rPr>
              <a:t>Largest plausible effect of the party mix of respondents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4526280"/>
            <a:ext cx="4297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2328"/>
                </a:solidFill>
                <a:latin typeface="Helvetica Neue"/>
              </a:rPr>
              <a:t>−38.8 → −40.4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00" b="0" i="0">
                <a:solidFill>
                  <a:srgbClr val="6B7280"/>
                </a:solidFill>
                <a:latin typeface="Helvetica Neue"/>
              </a:rPr>
              <a:t>Gap in Jan–Apr vs. May–Oct 2026: already there before the campaign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764792"/>
            <a:ext cx="54864" cy="96012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3182112"/>
            <a:ext cx="54864" cy="96012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4599432"/>
            <a:ext cx="54864" cy="96012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oter"/>
          <p:cNvSpPr txBox="1"/>
          <p:nvPr/>
        </p:nvSpPr>
        <p:spPr>
          <a:xfrm>
            <a:off x="594360" y="641908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Helvetica Neue"/>
              </a:rPr>
              <a:t>Group gaps: each group’s own economic model, fit 2010–19; mean 2025-01 to 2026-08. Party-mix bound: Republican share 2–6 points lower.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13" grpId="0" animBg="1"/>
      <p:bldP spid="10" grpId="0" animBg="1"/>
      <p:bldP spid="14" grpId="0" animBg="1"/>
      <p:bldP spid="1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kicker"/>
          <p:cNvSpPr txBox="1"/>
          <p:nvPr/>
        </p:nvSpPr>
        <p:spPr>
          <a:xfrm>
            <a:off x="594360" y="38404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EB6834"/>
                </a:solidFill>
                <a:latin typeface="Helvetica Neue"/>
              </a:rPr>
              <a:t>H2  ·  MEASURING THE MEDIA</a:t>
            </a:r>
          </a:p>
        </p:txBody>
      </p:sp>
      <p:sp>
        <p:nvSpPr>
          <p:cNvPr id="3" name="!!title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F2328"/>
                </a:solidFill>
                <a:latin typeface="Helvetica Neue"/>
              </a:rPr>
              <a:t>An AI coder that nearly matches human agreement</a:t>
            </a:r>
          </a:p>
        </p:txBody>
      </p:sp>
      <p:sp>
        <p:nvSpPr>
          <p:cNvPr id="4" name="!!pagenum"/>
          <p:cNvSpPr txBox="1"/>
          <p:nvPr/>
        </p:nvSpPr>
        <p:spPr>
          <a:xfrm>
            <a:off x="11048695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Helvetica Neue"/>
              </a:rPr>
              <a:t>5</a:t>
            </a:r>
          </a:p>
        </p:txBody>
      </p:sp>
      <p:sp>
        <p:nvSpPr>
          <p:cNvPr id="5" name="!!H1"/>
          <p:cNvSpPr/>
          <p:nvPr/>
        </p:nvSpPr>
        <p:spPr>
          <a:xfrm>
            <a:off x="1010412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Helvetica Neue"/>
              </a:rPr>
              <a:t>H1</a:t>
            </a:r>
          </a:p>
        </p:txBody>
      </p:sp>
      <p:sp>
        <p:nvSpPr>
          <p:cNvPr id="6" name="!!H2"/>
          <p:cNvSpPr/>
          <p:nvPr/>
        </p:nvSpPr>
        <p:spPr>
          <a:xfrm>
            <a:off x="1065276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H2</a:t>
            </a:r>
          </a:p>
        </p:txBody>
      </p:sp>
      <p:sp>
        <p:nvSpPr>
          <p:cNvPr id="7" name="!!H3"/>
          <p:cNvSpPr/>
          <p:nvPr/>
        </p:nvSpPr>
        <p:spPr>
          <a:xfrm>
            <a:off x="1120140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Helvetica Neue"/>
              </a:rPr>
              <a:t>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154680" cy="10972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>
            <a:noFill/>
          </a:ln>
        </p:spPr>
        <p:txBody>
          <a:bodyPr rtlCol="0" anchor="t" wrap="square" lIns="256032" tIns="155448" rIns="182880" bIns="91440"/>
          <a:lstStyle/>
          <a:p>
            <a:pPr algn="l"/>
            <a:r>
              <a:rPr sz="3000" b="1">
                <a:solidFill>
                  <a:srgbClr val="1F2328"/>
                </a:solidFill>
                <a:latin typeface="Helvetica Neue"/>
              </a:rPr>
              <a:t>167,418</a:t>
            </a:r>
          </a:p>
          <a:p>
            <a:pPr algn="l"/>
            <a:r>
              <a:rPr sz="1350" b="0">
                <a:solidFill>
                  <a:srgbClr val="6B7280"/>
                </a:solidFill>
                <a:latin typeface="Helvetica Neue"/>
              </a:rPr>
              <a:t>news items, posts and comments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600200"/>
            <a:ext cx="54864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C7CBD1"/>
                </a:solidFill>
                <a:latin typeface="Helvetica Neue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154680" cy="10972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>
            <a:noFill/>
          </a:ln>
        </p:spPr>
        <p:txBody>
          <a:bodyPr rtlCol="0" anchor="t" wrap="square" lIns="256032" tIns="155448" rIns="182880" bIns="91440"/>
          <a:lstStyle/>
          <a:p>
            <a:pPr algn="l"/>
            <a:r>
              <a:rPr sz="3000" b="1">
                <a:solidFill>
                  <a:srgbClr val="1F2328"/>
                </a:solidFill>
                <a:latin typeface="Helvetica Neue"/>
              </a:rPr>
              <a:t>11,431</a:t>
            </a:r>
          </a:p>
          <a:p>
            <a:pPr algn="l"/>
            <a:r>
              <a:rPr sz="1350" b="0">
                <a:solidFill>
                  <a:srgbClr val="6B7280"/>
                </a:solidFill>
                <a:latin typeface="Helvetica Neue"/>
              </a:rPr>
              <a:t>coded by an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600200"/>
            <a:ext cx="54864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C7CBD1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600200"/>
            <a:ext cx="3154680" cy="10972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>
            <a:noFill/>
          </a:ln>
        </p:spPr>
        <p:txBody>
          <a:bodyPr rtlCol="0" anchor="t" wrap="square" lIns="256032" tIns="155448" rIns="182880" bIns="91440"/>
          <a:lstStyle/>
          <a:p>
            <a:pPr algn="l"/>
            <a:r>
              <a:rPr sz="3000" b="1">
                <a:solidFill>
                  <a:srgbClr val="1F2328"/>
                </a:solidFill>
                <a:latin typeface="Helvetica Neue"/>
              </a:rPr>
              <a:t>360</a:t>
            </a:r>
          </a:p>
          <a:p>
            <a:pPr algn="l"/>
            <a:r>
              <a:rPr sz="1350" b="0">
                <a:solidFill>
                  <a:srgbClr val="6B7280"/>
                </a:solidFill>
                <a:latin typeface="Helvetica Neue"/>
              </a:rPr>
              <a:t>labeled by two people, independently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7280"/>
                </a:solidFill>
                <a:latin typeface="Helvetica Neue"/>
              </a:rPr>
              <a:t>Agreement with the human labels on tone (Cohen’s κ, test set)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500" b="0" i="0">
                <a:solidFill>
                  <a:srgbClr val="1F2328"/>
                </a:solidFill>
                <a:latin typeface="Helvetica Neue"/>
              </a:rPr>
              <a:t>Human vs. human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3502151"/>
            <a:ext cx="4760605" cy="310896"/>
          </a:xfrm>
          <a:prstGeom prst="rect">
            <a:avLst/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9253" y="3474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328"/>
                </a:solidFill>
                <a:latin typeface="Helvetica Neue"/>
              </a:rPr>
              <a:t>0.79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1F2328"/>
                </a:solidFill>
                <a:latin typeface="Helvetica Neue"/>
              </a:rPr>
              <a:t>LLM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4032504"/>
            <a:ext cx="4413129" cy="310896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1777" y="400507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6834"/>
                </a:solidFill>
                <a:latin typeface="Helvetica Neue"/>
              </a:rPr>
              <a:t>0.73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35424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500" b="0" i="0">
                <a:solidFill>
                  <a:srgbClr val="1F2328"/>
                </a:solidFill>
                <a:latin typeface="Helvetica Neue"/>
              </a:rPr>
              <a:t>TF-IDF classifier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4562856"/>
            <a:ext cx="2378996" cy="310896"/>
          </a:xfrm>
          <a:prstGeom prst="rect">
            <a:avLst/>
          </a:prstGeom>
          <a:solidFill>
            <a:srgbClr val="C7CB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7644" y="453542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328"/>
                </a:solidFill>
                <a:latin typeface="Helvetica Neue"/>
              </a:rPr>
              <a:t>0.39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65775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500" b="0" i="0">
                <a:solidFill>
                  <a:srgbClr val="1F2328"/>
                </a:solidFill>
                <a:latin typeface="Helvetica Neue"/>
              </a:rPr>
              <a:t>Finance dictionary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5093207"/>
            <a:ext cx="2115262" cy="310896"/>
          </a:xfrm>
          <a:prstGeom prst="rect">
            <a:avLst/>
          </a:prstGeom>
          <a:solidFill>
            <a:srgbClr val="C7CB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3910" y="5065775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328"/>
                </a:solidFill>
                <a:latin typeface="Helvetica Neue"/>
              </a:rPr>
              <a:t>0.35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59612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500" b="0" i="0">
                <a:solidFill>
                  <a:srgbClr val="1F2328"/>
                </a:solidFill>
                <a:latin typeface="Helvetica Neue"/>
              </a:rPr>
              <a:t>VADER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5623559"/>
            <a:ext cx="1613686" cy="310896"/>
          </a:xfrm>
          <a:prstGeom prst="rect">
            <a:avLst/>
          </a:prstGeom>
          <a:solidFill>
            <a:srgbClr val="C7CB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2334" y="5596127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328"/>
                </a:solidFill>
                <a:latin typeface="Helvetica Neue"/>
              </a:rPr>
              <a:t>0.27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3703320"/>
            <a:ext cx="2423160" cy="18288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>
            <a:noFill/>
          </a:ln>
        </p:spPr>
        <p:txBody>
          <a:bodyPr rtlCol="0" anchor="ctr" wrap="square" lIns="137160" tIns="91440" rIns="137160" bIns="91440"/>
          <a:lstStyle/>
          <a:p>
            <a:pPr algn="ctr"/>
            <a:r>
              <a:rPr sz="3000" b="1">
                <a:solidFill>
                  <a:srgbClr val="EB6834"/>
                </a:solidFill>
                <a:latin typeface="Helvetica Neue"/>
              </a:rPr>
              <a:t>✓</a:t>
            </a:r>
          </a:p>
          <a:p>
            <a:pPr algn="ctr"/>
            <a:r>
              <a:rPr sz="1400" b="1">
                <a:solidFill>
                  <a:srgbClr val="1F2328"/>
                </a:solidFill>
                <a:latin typeface="Helvetica Neue"/>
              </a:rPr>
              <a:t>Name and source swaps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6B7280"/>
                </a:solidFill>
                <a:latin typeface="Helvetica Neue"/>
              </a:rPr>
              <a:t>0 of 39 tests show bias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94360" y="641908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Helvetica Neue"/>
              </a:rPr>
              <a:t>Gold standard: 360 items, two annotators, adjudicated; LLM prompt frozen on 100 development items and scored once on 260 test items.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95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kicker"/>
          <p:cNvSpPr txBox="1"/>
          <p:nvPr/>
        </p:nvSpPr>
        <p:spPr>
          <a:xfrm>
            <a:off x="594360" y="38404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EB6834"/>
                </a:solidFill>
                <a:latin typeface="Helvetica Neue"/>
              </a:rPr>
              <a:t>H2  ·  WHAT COVERAGE SHOWS</a:t>
            </a:r>
          </a:p>
        </p:txBody>
      </p:sp>
      <p:sp>
        <p:nvSpPr>
          <p:cNvPr id="3" name="!!title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F2328"/>
                </a:solidFill>
                <a:latin typeface="Helvetica Neue"/>
              </a:rPr>
              <a:t>Even-handed tone, but more blame on the White House</a:t>
            </a:r>
          </a:p>
        </p:txBody>
      </p:sp>
      <p:sp>
        <p:nvSpPr>
          <p:cNvPr id="4" name="!!pagenum"/>
          <p:cNvSpPr txBox="1"/>
          <p:nvPr/>
        </p:nvSpPr>
        <p:spPr>
          <a:xfrm>
            <a:off x="11048695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Helvetica Neue"/>
              </a:rPr>
              <a:t>6</a:t>
            </a:r>
          </a:p>
        </p:txBody>
      </p:sp>
      <p:sp>
        <p:nvSpPr>
          <p:cNvPr id="5" name="!!H1"/>
          <p:cNvSpPr/>
          <p:nvPr/>
        </p:nvSpPr>
        <p:spPr>
          <a:xfrm>
            <a:off x="1010412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Helvetica Neue"/>
              </a:rPr>
              <a:t>H1</a:t>
            </a:r>
          </a:p>
        </p:txBody>
      </p:sp>
      <p:sp>
        <p:nvSpPr>
          <p:cNvPr id="6" name="!!H2"/>
          <p:cNvSpPr/>
          <p:nvPr/>
        </p:nvSpPr>
        <p:spPr>
          <a:xfrm>
            <a:off x="1065276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H2</a:t>
            </a:r>
          </a:p>
        </p:txBody>
      </p:sp>
      <p:sp>
        <p:nvSpPr>
          <p:cNvPr id="7" name="!!H3"/>
          <p:cNvSpPr/>
          <p:nvPr/>
        </p:nvSpPr>
        <p:spPr>
          <a:xfrm>
            <a:off x="1120140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Helvetica Neue"/>
              </a:rPr>
              <a:t>H3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B6834"/>
                </a:solidFill>
                <a:latin typeface="Helvetica Neue"/>
              </a:rPr>
              <a:t>✓   </a:t>
            </a:r>
            <a:r>
              <a:rPr sz="1900" b="0" i="0">
                <a:solidFill>
                  <a:srgbClr val="1F2328"/>
                </a:solidFill>
                <a:latin typeface="Helvetica Neue"/>
              </a:rPr>
              <a:t>Good and bad news treated alike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B6834"/>
                </a:solidFill>
                <a:latin typeface="Helvetica Neue"/>
              </a:rPr>
              <a:t>✓   </a:t>
            </a:r>
            <a:r>
              <a:rPr sz="1900" b="0" i="0">
                <a:solidFill>
                  <a:srgbClr val="1F2328"/>
                </a:solidFill>
                <a:latin typeface="Helvetica Neue"/>
              </a:rPr>
              <a:t>Rising and easing prices treated alike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319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B6834"/>
                </a:solidFill>
                <a:latin typeface="Helvetica Neue"/>
              </a:rPr>
              <a:t>✓   </a:t>
            </a:r>
            <a:r>
              <a:rPr sz="1900" b="0" i="0">
                <a:solidFill>
                  <a:srgbClr val="1F2328"/>
                </a:solidFill>
                <a:latin typeface="Helvetica Neue"/>
              </a:rPr>
              <a:t>2 of 68 checkable numbers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7280"/>
                </a:solidFill>
                <a:latin typeface="Helvetica Neue"/>
              </a:rPr>
              <a:t>Share of economic news items blaming the White House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5065912"/>
            <a:ext cx="868680" cy="191887"/>
          </a:xfrm>
          <a:prstGeom prst="rect">
            <a:avLst/>
          </a:prstGeom>
          <a:solidFill>
            <a:srgbClr val="C7CB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627000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F2328"/>
                </a:solidFill>
                <a:latin typeface="Helvetica Neue"/>
              </a:rPr>
              <a:t>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141731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F2328"/>
                </a:solidFill>
                <a:latin typeface="Helvetica Neue"/>
              </a:rPr>
              <a:t>Obama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033194"/>
            <a:ext cx="868680" cy="1224605"/>
          </a:xfrm>
          <a:prstGeom prst="rect">
            <a:avLst/>
          </a:prstGeom>
          <a:solidFill>
            <a:srgbClr val="C7CB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3594282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F2328"/>
                </a:solidFill>
                <a:latin typeface="Helvetica Neue"/>
              </a:rPr>
              <a:t>19%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5349240"/>
            <a:ext cx="141731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F2328"/>
                </a:solidFill>
                <a:latin typeface="Helvetica Neue"/>
              </a:rPr>
              <a:t>Trump 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4867728"/>
            <a:ext cx="868680" cy="390071"/>
          </a:xfrm>
          <a:prstGeom prst="rect">
            <a:avLst/>
          </a:prstGeom>
          <a:solidFill>
            <a:srgbClr val="C7CB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59" y="4428816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F2328"/>
                </a:solidFill>
                <a:latin typeface="Helvetica Neue"/>
              </a:rPr>
              <a:t>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5349240"/>
            <a:ext cx="141731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F2328"/>
                </a:solidFill>
                <a:latin typeface="Helvetica Neue"/>
              </a:rPr>
              <a:t>Biden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78440" y="2663293"/>
            <a:ext cx="868680" cy="2594506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19" y="2224381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Helvetica Neue"/>
              </a:rPr>
              <a:t>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5349240"/>
            <a:ext cx="141731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F2328"/>
                </a:solidFill>
                <a:latin typeface="Helvetica Neue"/>
              </a:rPr>
              <a:t>Trump II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55080" y="5257800"/>
            <a:ext cx="5257800" cy="0"/>
          </a:xfrm>
          <a:prstGeom prst="line">
            <a:avLst/>
          </a:prstGeom>
          <a:ln w="15875">
            <a:solidFill>
              <a:srgbClr val="C7CB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09360" y="580644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328"/>
                </a:solidFill>
                <a:latin typeface="Helvetica Neue"/>
              </a:rPr>
              <a:t>Blame is not proof of bias: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tariffs are the president’s own decisions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594360" y="641908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Helvetica Neue"/>
              </a:rPr>
              <a:t>National news (NYT, Guardian), LLM-coded. Factual check against the official data available on the publication date.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9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13" grpId="0" animBg="1"/>
      <p:bldP spid="16" grpId="0" animBg="1"/>
      <p:bldP spid="19" grpId="0" animBg="1"/>
      <p:bldP spid="21" grpId="0" animBg="1"/>
      <p:bldP spid="23" grpId="0" animBg="1"/>
      <p:bldP spid="22" grpId="0" animBg="1"/>
      <p:bldP spid="2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kicker"/>
          <p:cNvSpPr txBox="1"/>
          <p:nvPr/>
        </p:nvSpPr>
        <p:spPr>
          <a:xfrm>
            <a:off x="594360" y="38404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EB6834"/>
                </a:solidFill>
                <a:latin typeface="Helvetica Neue"/>
              </a:rPr>
              <a:t>H2  ·  THE FORECAST TEST</a:t>
            </a:r>
          </a:p>
        </p:txBody>
      </p:sp>
      <p:sp>
        <p:nvSpPr>
          <p:cNvPr id="3" name="!!title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F2328"/>
                </a:solidFill>
                <a:latin typeface="Helvetica Neue"/>
              </a:rPr>
              <a:t>Tone stops helping forecasts once controls are in</a:t>
            </a:r>
          </a:p>
        </p:txBody>
      </p:sp>
      <p:sp>
        <p:nvSpPr>
          <p:cNvPr id="4" name="!!pagenum"/>
          <p:cNvSpPr txBox="1"/>
          <p:nvPr/>
        </p:nvSpPr>
        <p:spPr>
          <a:xfrm>
            <a:off x="11048695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Helvetica Neue"/>
              </a:rPr>
              <a:t>7</a:t>
            </a:r>
          </a:p>
        </p:txBody>
      </p:sp>
      <p:sp>
        <p:nvSpPr>
          <p:cNvPr id="5" name="!!H1"/>
          <p:cNvSpPr/>
          <p:nvPr/>
        </p:nvSpPr>
        <p:spPr>
          <a:xfrm>
            <a:off x="1010412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Helvetica Neue"/>
              </a:rPr>
              <a:t>H1</a:t>
            </a:r>
          </a:p>
        </p:txBody>
      </p:sp>
      <p:sp>
        <p:nvSpPr>
          <p:cNvPr id="6" name="!!H2"/>
          <p:cNvSpPr/>
          <p:nvPr/>
        </p:nvSpPr>
        <p:spPr>
          <a:xfrm>
            <a:off x="1065276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H2</a:t>
            </a:r>
          </a:p>
        </p:txBody>
      </p:sp>
      <p:sp>
        <p:nvSpPr>
          <p:cNvPr id="7" name="!!H3"/>
          <p:cNvSpPr/>
          <p:nvPr/>
        </p:nvSpPr>
        <p:spPr>
          <a:xfrm>
            <a:off x="11201400" y="40233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Helvetica Neue"/>
              </a:rPr>
              <a:t>H3</a:t>
            </a:r>
          </a:p>
        </p:txBody>
      </p:sp>
      <p:pic>
        <p:nvPicPr>
          <p:cNvPr id="8" name="Picture 7" descr="spec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0607040" cy="3246120"/>
          </a:xfrm>
          <a:prstGeom prst="rect">
            <a:avLst/>
          </a:prstGeom>
        </p:spPr>
      </p:pic>
      <p:pic>
        <p:nvPicPr>
          <p:cNvPr id="9" name="layer row1" descr="spec_row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10607040" cy="3246120"/>
          </a:xfrm>
          <a:prstGeom prst="rect">
            <a:avLst/>
          </a:prstGeom>
        </p:spPr>
      </p:pic>
      <p:pic>
        <p:nvPicPr>
          <p:cNvPr id="10" name="layer row2" descr="spec_row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00200"/>
            <a:ext cx="1060704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07492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EB6834"/>
                </a:solidFill>
                <a:latin typeface="Helvetica Neue"/>
              </a:rPr>
              <a:t>≤ 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074920"/>
            <a:ext cx="77724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2328"/>
                </a:solidFill>
                <a:latin typeface="Helvetica Neue"/>
              </a:rPr>
              <a:t>of the 2025–26 gap is linked to news tone, at most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94360" y="641908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Helvetica Neue"/>
              </a:rPr>
              <a:t>One-step-ahead forecasts 2017–26, Clark–West test. Outlined dot = main specification. Controls: household pressures, governing party, pre-election month.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kicker"/>
          <p:cNvSpPr txBox="1"/>
          <p:nvPr/>
        </p:nvSpPr>
        <p:spPr>
          <a:xfrm>
            <a:off x="594360" y="38404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EB6834"/>
                </a:solidFill>
                <a:latin typeface="Helvetica Neue"/>
              </a:rPr>
              <a:t>VERDICT</a:t>
            </a:r>
          </a:p>
        </p:txBody>
      </p:sp>
      <p:sp>
        <p:nvSpPr>
          <p:cNvPr id="3" name="!!title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F2328"/>
                </a:solidFill>
                <a:latin typeface="Helvetica Neue"/>
              </a:rPr>
              <a:t>Media bias is not the main explanation</a:t>
            </a:r>
          </a:p>
        </p:txBody>
      </p:sp>
      <p:sp>
        <p:nvSpPr>
          <p:cNvPr id="4" name="!!pagenum"/>
          <p:cNvSpPr txBox="1"/>
          <p:nvPr/>
        </p:nvSpPr>
        <p:spPr>
          <a:xfrm>
            <a:off x="11048695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Helvetica Neue"/>
              </a:rPr>
              <a:t>8</a:t>
            </a:r>
          </a:p>
        </p:txBody>
      </p:sp>
      <p:sp>
        <p:nvSpPr>
          <p:cNvPr id="5" name="!!H1"/>
          <p:cNvSpPr/>
          <p:nvPr/>
        </p:nvSpPr>
        <p:spPr>
          <a:xfrm>
            <a:off x="594360" y="1691640"/>
            <a:ext cx="3502152" cy="33375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</p:spPr>
        <p:txBody>
          <a:bodyPr rtlCol="0" anchor="t" wrap="square" lIns="292608" tIns="274320" rIns="292608" bIns="182880"/>
          <a:lstStyle/>
          <a:p>
            <a:pPr algn="l"/>
            <a:r>
              <a:rPr sz="1500" b="1" spc="100">
                <a:solidFill>
                  <a:srgbClr val="EB6834"/>
                </a:solidFill>
                <a:latin typeface="Helvetica Neue"/>
              </a:rPr>
              <a:t>H1</a:t>
            </a:r>
          </a:p>
          <a:p>
            <a:pPr algn="l">
              <a:spcBef>
                <a:spcPts val="400"/>
              </a:spcBef>
            </a:pPr>
            <a:r>
              <a:rPr sz="2600" b="1">
                <a:solidFill>
                  <a:srgbClr val="1F2328"/>
                </a:solidFill>
                <a:latin typeface="Helvetica Neue"/>
              </a:rPr>
              <a:t>Real pressures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Helvetica Neue"/>
              </a:rPr>
              <a:t>High prices and rates the headline numbers miss</a:t>
            </a:r>
          </a:p>
        </p:txBody>
      </p:sp>
      <p:sp>
        <p:nvSpPr>
          <p:cNvPr id="6" name="!!H2"/>
          <p:cNvSpPr/>
          <p:nvPr/>
        </p:nvSpPr>
        <p:spPr>
          <a:xfrm>
            <a:off x="4370832" y="1691640"/>
            <a:ext cx="3502152" cy="33375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</p:spPr>
        <p:txBody>
          <a:bodyPr rtlCol="0" anchor="t" wrap="square" lIns="292608" tIns="274320" rIns="292608" bIns="182880"/>
          <a:lstStyle/>
          <a:p>
            <a:pPr algn="l"/>
            <a:r>
              <a:rPr sz="1500" b="1" spc="100">
                <a:solidFill>
                  <a:srgbClr val="EB6834"/>
                </a:solidFill>
                <a:latin typeface="Helvetica Neue"/>
              </a:rPr>
              <a:t>H2</a:t>
            </a:r>
          </a:p>
          <a:p>
            <a:pPr algn="l">
              <a:spcBef>
                <a:spcPts val="400"/>
              </a:spcBef>
            </a:pPr>
            <a:r>
              <a:rPr sz="2600" b="1">
                <a:solidFill>
                  <a:srgbClr val="1F2328"/>
                </a:solidFill>
                <a:latin typeface="Helvetica Neue"/>
              </a:rPr>
              <a:t>Media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Helvetica Neue"/>
              </a:rPr>
              <a:t>Selection, framing or bias in coverage</a:t>
            </a:r>
          </a:p>
        </p:txBody>
      </p:sp>
      <p:sp>
        <p:nvSpPr>
          <p:cNvPr id="7" name="!!H3"/>
          <p:cNvSpPr/>
          <p:nvPr/>
        </p:nvSpPr>
        <p:spPr>
          <a:xfrm>
            <a:off x="8147304" y="1691640"/>
            <a:ext cx="3502152" cy="33375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</p:spPr>
        <p:txBody>
          <a:bodyPr rtlCol="0" anchor="t" wrap="square" lIns="292608" tIns="274320" rIns="292608" bIns="182880"/>
          <a:lstStyle/>
          <a:p>
            <a:pPr algn="l"/>
            <a:r>
              <a:rPr sz="1500" b="1" spc="100">
                <a:solidFill>
                  <a:srgbClr val="EB6834"/>
                </a:solidFill>
                <a:latin typeface="Helvetica Neue"/>
              </a:rPr>
              <a:t>H3</a:t>
            </a:r>
          </a:p>
          <a:p>
            <a:pPr algn="l">
              <a:spcBef>
                <a:spcPts val="400"/>
              </a:spcBef>
            </a:pPr>
            <a:r>
              <a:rPr sz="2600" b="1">
                <a:solidFill>
                  <a:srgbClr val="1F2328"/>
                </a:solidFill>
                <a:latin typeface="Helvetica Neue"/>
              </a:rPr>
              <a:t>Measurement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Helvetica Neue"/>
              </a:rPr>
              <a:t>Survey method, timing or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36118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400" b="1" spc="100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206240"/>
            <a:ext cx="29535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328"/>
                </a:solidFill>
                <a:latin typeface="Helvetica Neue"/>
              </a:rPr>
              <a:t>Plausible, but the 2010–19 data cannot size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6118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400" b="1" spc="100">
                <a:solidFill>
                  <a:srgbClr val="FFFFFF"/>
                </a:solidFill>
                <a:latin typeface="Helvetica Neue"/>
              </a:rPr>
              <a:t>WEAK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206240"/>
            <a:ext cx="29535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328"/>
                </a:solidFill>
                <a:latin typeface="Helvetica Neue"/>
              </a:rPr>
              <a:t>≤ 5% of the gap; 2 of 8 tests go against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39912" y="36118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 wrap="square" lIns="0" tIns="0" rIns="0" bIns="0"/>
          <a:lstStyle/>
          <a:p>
            <a:pPr algn="ctr"/>
            <a:r>
              <a:rPr sz="1400" b="1" spc="100">
                <a:solidFill>
                  <a:srgbClr val="FFFFFF"/>
                </a:solidFill>
                <a:latin typeface="Helvetica Neue"/>
              </a:rPr>
              <a:t>RULED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4206240"/>
            <a:ext cx="29535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328"/>
                </a:solidFill>
                <a:latin typeface="Helvetica Neue"/>
              </a:rPr>
              <a:t>Not survey mode, party mix or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440680"/>
            <a:ext cx="11002975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328"/>
                </a:solidFill>
                <a:latin typeface="Helvetica Neue"/>
              </a:rPr>
              <a:t>Limits  </a:t>
            </a:r>
            <a:r>
              <a:rPr sz="1400" b="0" i="0">
                <a:solidFill>
                  <a:srgbClr val="6B7280"/>
                </a:solidFill>
                <a:latin typeface="Helvetica Neue"/>
              </a:rPr>
              <a:t>observational data; two national outlets, about 26 items a month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328"/>
                </a:solidFill>
                <a:latin typeface="Helvetica Neue"/>
              </a:rPr>
              <a:t>Next  </a:t>
            </a:r>
            <a:r>
              <a:rPr sz="1400" b="0" i="0">
                <a:solidFill>
                  <a:srgbClr val="6B7280"/>
                </a:solidFill>
                <a:latin typeface="Helvetica Neue"/>
              </a:rPr>
              <a:t>a randomized framing experiment to test cause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0" grpId="0" animBg="1"/>
      <p:bldP spid="11" grpId="0" animBg="1"/>
      <p:bldP spid="8" grpId="0" animBg="1"/>
      <p:bldP spid="9" grpId="0" animBg="1"/>
      <p:bldP spid="1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kicker"/>
          <p:cNvSpPr txBox="1"/>
          <p:nvPr/>
        </p:nvSpPr>
        <p:spPr>
          <a:xfrm>
            <a:off x="594360" y="38404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EB6834"/>
                </a:solidFill>
                <a:latin typeface="Helvetica Neue"/>
              </a:rPr>
              <a:t>IMPLICATION FOR FORECASTING AND RISK</a:t>
            </a:r>
          </a:p>
        </p:txBody>
      </p:sp>
      <p:sp>
        <p:nvSpPr>
          <p:cNvPr id="3" name="!!title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F2328"/>
                </a:solidFill>
                <a:latin typeface="Helvetica Neue"/>
              </a:rPr>
              <a:t>Treat the gap as persistent, not as noise</a:t>
            </a:r>
          </a:p>
        </p:txBody>
      </p:sp>
      <p:sp>
        <p:nvSpPr>
          <p:cNvPr id="4" name="!!pagenum"/>
          <p:cNvSpPr txBox="1"/>
          <p:nvPr/>
        </p:nvSpPr>
        <p:spPr>
          <a:xfrm>
            <a:off x="11048695" y="6419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Helvetica Neue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7280"/>
                </a:solidFill>
                <a:latin typeface="Helvetica Neue"/>
              </a:rPr>
              <a:t>Michigan index, 2026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Helvetica Neue"/>
              </a:rPr>
              <a:t>Economy predicts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807208"/>
            <a:ext cx="5488039" cy="50292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9559" y="277063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A78D6"/>
                </a:solidFill>
                <a:latin typeface="Helvetica Neue"/>
              </a:rPr>
              <a:t>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576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328"/>
                </a:solidFill>
                <a:latin typeface="Helvetica Neue"/>
              </a:rPr>
              <a:t>People say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041648"/>
            <a:ext cx="3088129" cy="502920"/>
          </a:xfrm>
          <a:prstGeom prst="rect">
            <a:avLst/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9649" y="400507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328"/>
                </a:solidFill>
                <a:latin typeface="Helvetica Neue"/>
              </a:rPr>
              <a:t>51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14475" y="2286000"/>
            <a:ext cx="0" cy="2514600"/>
          </a:xfrm>
          <a:prstGeom prst="line">
            <a:avLst/>
          </a:prstGeom>
          <a:ln w="22225">
            <a:solidFill>
              <a:srgbClr val="EB683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37035" y="48920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Helvetica Neue"/>
              </a:rPr>
              <a:t>Lowest reading before 2020: 51.7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Helvetica Neue"/>
              </a:rPr>
              <a:t>(May 1980; series since 1952)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1168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B6834"/>
                </a:solidFill>
                <a:latin typeface="Helvetica Neu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05740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328"/>
                </a:solidFill>
                <a:latin typeface="Helvetica Neue"/>
              </a:rPr>
              <a:t>Don’t use pre-2020 mappings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00" b="0" i="0">
                <a:solidFill>
                  <a:srgbClr val="6B7280"/>
                </a:solidFill>
                <a:latin typeface="Helvetica Neue"/>
              </a:rPr>
              <a:t>They would read today as a deep downturn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33756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B6834"/>
                </a:solidFill>
                <a:latin typeface="Helvetica Neu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38328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328"/>
                </a:solidFill>
                <a:latin typeface="Helvetica Neue"/>
              </a:rPr>
              <a:t>Track the gap and its error band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00" b="0" i="0">
                <a:solidFill>
                  <a:srgbClr val="6B7280"/>
                </a:solidFill>
                <a:latin typeface="Helvetica Neue"/>
              </a:rPr>
              <a:t>Next to price levels and mortgage rates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66344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B6834"/>
                </a:solidFill>
                <a:latin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709159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328"/>
                </a:solidFill>
                <a:latin typeface="Helvetica Neue"/>
              </a:rPr>
              <a:t>Skip news-tone signals here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00" b="0" i="0">
                <a:solidFill>
                  <a:srgbClr val="6B7280"/>
                </a:solidFill>
                <a:latin typeface="Helvetica Neue"/>
              </a:rPr>
              <a:t>No forecast gain once those are included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594360" y="641908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Helvetica Neue"/>
              </a:rPr>
              <a:t>Prediction: economy-only model (real-time data, fit 2010–19), January–October 2026. The dashboard tracks the gap and its band each month.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